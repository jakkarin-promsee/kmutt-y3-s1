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396" autoAdjust="0"/>
  </p:normalViewPr>
  <p:slideViewPr>
    <p:cSldViewPr>
      <p:cViewPr varScale="1">
        <p:scale>
          <a:sx n="75" d="100"/>
          <a:sy n="75" d="100"/>
        </p:scale>
        <p:origin x="18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40FDC-9CF3-4F1A-81E4-E478214CD6B7}" type="datetimeFigureOut">
              <a:rPr lang="th-TH" smtClean="0"/>
              <a:t>08/08/65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D5219-30B9-4D3D-8186-6B40E667C1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7636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D5219-30B9-4D3D-8186-6B40E667C179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7869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Memory is just an array of bytes:</a:t>
            </a:r>
            <a:r>
              <a:rPr lang="en-US" baseline="0" dirty="0"/>
              <a:t> to </a:t>
            </a:r>
            <a:r>
              <a:rPr lang="en-US" b="1" baseline="0" dirty="0"/>
              <a:t>read</a:t>
            </a:r>
            <a:r>
              <a:rPr lang="en-US" baseline="0" dirty="0"/>
              <a:t>, one must specify an address to be able to access the data stored there; to </a:t>
            </a:r>
            <a:r>
              <a:rPr lang="en-US" b="1" baseline="0" dirty="0"/>
              <a:t>write</a:t>
            </a:r>
            <a:r>
              <a:rPr lang="en-US" baseline="0" dirty="0"/>
              <a:t>, one must also specify the data to be written to the given address.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D5219-30B9-4D3D-8186-6B40E667C179}" type="slidenum">
              <a:rPr lang="th-TH" smtClean="0"/>
              <a:t>6</a:t>
            </a:fld>
            <a:endParaRPr 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3D5219-30B9-4D3D-8186-6B40E667C179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6024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RAIN: Redundant Arrays of Inexpensive Disks (RAID)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D5219-30B9-4D3D-8186-6B40E667C179}" type="slidenum">
              <a:rPr lang="th-TH" smtClean="0"/>
              <a:t>10</a:t>
            </a:fld>
            <a:endParaRPr 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D5219-30B9-4D3D-8186-6B40E667C179}" type="slidenum">
              <a:rPr lang="th-TH" smtClean="0"/>
              <a:t>11</a:t>
            </a:fld>
            <a:endParaRPr 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D5219-30B9-4D3D-8186-6B40E667C179}" type="slidenum">
              <a:rPr lang="th-TH" smtClean="0"/>
              <a:t>14</a:t>
            </a:fld>
            <a:endParaRPr 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DOS: Without</a:t>
            </a:r>
            <a:r>
              <a:rPr lang="en-US" baseline="0" dirty="0"/>
              <a:t> a good memory protection scheme, a poorly-programmed application or malicious applications can scribble all over memory.</a:t>
            </a:r>
          </a:p>
          <a:p>
            <a:r>
              <a:rPr lang="en-US" baseline="0" dirty="0"/>
              <a:t>Mac OS: a thread that accidently got stuck in an infinite loop could take over the entre system forcing a reboot.</a:t>
            </a: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D5219-30B9-4D3D-8186-6B40E667C179}" type="slidenum">
              <a:rPr lang="th-TH" smtClean="0"/>
              <a:t>15</a:t>
            </a:fld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199"/>
            <a:ext cx="7772400" cy="1828801"/>
          </a:xfrm>
        </p:spPr>
        <p:txBody>
          <a:bodyPr>
            <a:normAutofit/>
          </a:bodyPr>
          <a:lstStyle/>
          <a:p>
            <a:r>
              <a:rPr lang="en-US" sz="5400" dirty="0"/>
              <a:t>Lecture 1</a:t>
            </a:r>
            <a:br>
              <a:rPr lang="en-US" dirty="0"/>
            </a:br>
            <a:r>
              <a:rPr lang="en-US" dirty="0"/>
              <a:t>Introduction to Operating System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previous semester …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second:</a:t>
            </a:r>
          </a:p>
          <a:p>
            <a:pPr lvl="1"/>
            <a:r>
              <a:rPr lang="en-US" dirty="0"/>
              <a:t>Millions instructions are fetched by a processor (from a memory),</a:t>
            </a:r>
          </a:p>
          <a:p>
            <a:pPr lvl="1"/>
            <a:r>
              <a:rPr lang="en-US" dirty="0"/>
              <a:t>then decoded (processor figure out what instruction it is),</a:t>
            </a:r>
          </a:p>
          <a:p>
            <a:pPr lvl="1"/>
            <a:r>
              <a:rPr lang="en-US" dirty="0"/>
              <a:t>then executed (and maybe write)</a:t>
            </a:r>
          </a:p>
          <a:p>
            <a:r>
              <a:rPr lang="en-US" dirty="0"/>
              <a:t>In this class, we will learn that while a program is run, a lot of other things are going on…and</a:t>
            </a:r>
          </a:p>
          <a:p>
            <a:r>
              <a:rPr lang="en-US" dirty="0"/>
              <a:t>There is a body of software that is responsible for</a:t>
            </a:r>
          </a:p>
          <a:p>
            <a:pPr lvl="1"/>
            <a:r>
              <a:rPr lang="en-US" dirty="0"/>
              <a:t>making programs run</a:t>
            </a:r>
          </a:p>
          <a:p>
            <a:pPr lvl="1"/>
            <a:r>
              <a:rPr lang="en-US" dirty="0"/>
              <a:t>Allowing programs to share memory</a:t>
            </a:r>
          </a:p>
          <a:p>
            <a:pPr lvl="1"/>
            <a:r>
              <a:rPr lang="en-US" dirty="0"/>
              <a:t>Enabling programs to interact with devices</a:t>
            </a:r>
          </a:p>
          <a:p>
            <a:pPr lvl="1"/>
            <a:r>
              <a:rPr lang="en-US" dirty="0"/>
              <a:t>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912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Operating System is in charge of making sure that the system operates correctly and efficiently in an easy-to-use manner</a:t>
            </a:r>
            <a:endParaRPr lang="th-TH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covered in this course</a:t>
            </a:r>
            <a:endParaRPr lang="th-TH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 to OS (1 </a:t>
            </a:r>
            <a:r>
              <a:rPr lang="en-US" dirty="0" err="1"/>
              <a:t>wk</a:t>
            </a:r>
            <a:r>
              <a:rPr lang="en-US" dirty="0"/>
              <a:t>)</a:t>
            </a:r>
          </a:p>
          <a:p>
            <a:r>
              <a:rPr lang="en-US" dirty="0"/>
              <a:t>Part I – </a:t>
            </a:r>
            <a:r>
              <a:rPr lang="en-US" b="1" dirty="0"/>
              <a:t>Virtualization</a:t>
            </a:r>
            <a:r>
              <a:rPr lang="en-US" dirty="0"/>
              <a:t> (5 </a:t>
            </a:r>
            <a:r>
              <a:rPr lang="en-US" dirty="0" err="1"/>
              <a:t>wks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Processor</a:t>
            </a:r>
          </a:p>
          <a:p>
            <a:pPr lvl="1"/>
            <a:r>
              <a:rPr lang="en-US" dirty="0"/>
              <a:t>Memory</a:t>
            </a:r>
          </a:p>
          <a:p>
            <a:r>
              <a:rPr lang="en-US" dirty="0"/>
              <a:t>Part II – </a:t>
            </a:r>
            <a:r>
              <a:rPr lang="en-US" b="1" dirty="0"/>
              <a:t>Concurrency</a:t>
            </a:r>
            <a:r>
              <a:rPr lang="en-US" dirty="0"/>
              <a:t> (4 </a:t>
            </a:r>
            <a:r>
              <a:rPr lang="en-US" dirty="0" err="1"/>
              <a:t>wks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Thread API</a:t>
            </a:r>
          </a:p>
          <a:p>
            <a:pPr lvl="1"/>
            <a:r>
              <a:rPr lang="en-US" dirty="0"/>
              <a:t>Locks and Semaphores</a:t>
            </a:r>
          </a:p>
          <a:p>
            <a:pPr lvl="1"/>
            <a:r>
              <a:rPr lang="en-US" dirty="0"/>
              <a:t>Deadlock</a:t>
            </a:r>
          </a:p>
          <a:p>
            <a:r>
              <a:rPr lang="en-US" dirty="0"/>
              <a:t>Part III – </a:t>
            </a:r>
            <a:r>
              <a:rPr lang="en-US" b="1" dirty="0"/>
              <a:t>Persistence</a:t>
            </a:r>
            <a:r>
              <a:rPr lang="en-US" dirty="0"/>
              <a:t> (2 </a:t>
            </a:r>
            <a:r>
              <a:rPr lang="en-US" dirty="0" err="1"/>
              <a:t>wks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I/O System</a:t>
            </a:r>
          </a:p>
          <a:p>
            <a:pPr lvl="1"/>
            <a:r>
              <a:rPr lang="en-US" dirty="0"/>
              <a:t>File System</a:t>
            </a:r>
          </a:p>
          <a:p>
            <a:pPr lvl="1"/>
            <a:r>
              <a:rPr lang="en-US" dirty="0"/>
              <a:t>Storage and Mass-Storage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Mini Projects</a:t>
            </a:r>
            <a:endParaRPr lang="th-TH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Project 1 – Compile and build an OS</a:t>
            </a:r>
          </a:p>
          <a:p>
            <a:r>
              <a:rPr lang="en-US" dirty="0"/>
              <a:t>Project 2 – Study and present in details, a few key components of an OS</a:t>
            </a:r>
          </a:p>
          <a:p>
            <a:r>
              <a:rPr lang="en-US" dirty="0"/>
              <a:t>Project 3 – Modify some modules in the kernel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49380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OS takes a physical resources (processor, memory, disk, etc) and transform it into a more general, powerful </a:t>
            </a:r>
            <a:r>
              <a:rPr lang="en-US" i="1" dirty="0"/>
              <a:t>virtual</a:t>
            </a:r>
            <a:r>
              <a:rPr lang="en-US" dirty="0"/>
              <a:t> form of itself.</a:t>
            </a:r>
          </a:p>
          <a:p>
            <a:pPr lvl="1"/>
            <a:r>
              <a:rPr lang="en-US" u="sng" dirty="0"/>
              <a:t>Ex</a:t>
            </a:r>
            <a:r>
              <a:rPr lang="en-US" dirty="0"/>
              <a:t> OS can turn a single CPU into a seemingly infinite number of CPUs – </a:t>
            </a:r>
            <a:r>
              <a:rPr lang="en-US" dirty="0">
                <a:solidFill>
                  <a:srgbClr val="FF0000"/>
                </a:solidFill>
              </a:rPr>
              <a:t>virtualizing the CPU</a:t>
            </a:r>
          </a:p>
          <a:p>
            <a:r>
              <a:rPr lang="en-US" dirty="0"/>
              <a:t>Sometime, we refer to OS as a </a:t>
            </a:r>
            <a:r>
              <a:rPr lang="en-US" b="1" i="1" dirty="0"/>
              <a:t>virtual machine</a:t>
            </a:r>
          </a:p>
          <a:p>
            <a:r>
              <a:rPr lang="en-US" dirty="0"/>
              <a:t>OS allows CPUs, memory, I/O to be shared, thus it can also be called a </a:t>
            </a:r>
            <a:r>
              <a:rPr lang="en-US" b="1" i="1" dirty="0"/>
              <a:t>resource manager</a:t>
            </a:r>
            <a:r>
              <a:rPr lang="en-US" dirty="0"/>
              <a:t>.</a:t>
            </a:r>
          </a:p>
          <a:p>
            <a:r>
              <a:rPr lang="en-US" dirty="0"/>
              <a:t>OS provides </a:t>
            </a:r>
            <a:r>
              <a:rPr lang="en-US" b="1" dirty="0"/>
              <a:t>APIs</a:t>
            </a:r>
            <a:r>
              <a:rPr lang="en-US" dirty="0"/>
              <a:t> (system calls) to applications in order to access resources.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Processor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Q: If two programs want to run at the same time, then what ?</a:t>
            </a:r>
          </a:p>
          <a:p>
            <a:r>
              <a:rPr lang="en-US" dirty="0"/>
              <a:t>Q: Who (which program) gets what (which resources), and when ?</a:t>
            </a:r>
          </a:p>
          <a:p>
            <a:pPr lvl="1"/>
            <a:r>
              <a:rPr lang="en-US" b="1" dirty="0"/>
              <a:t>Policies</a:t>
            </a:r>
            <a:r>
              <a:rPr lang="en-US" dirty="0"/>
              <a:t>, many and many of them</a:t>
            </a:r>
          </a:p>
          <a:p>
            <a:pPr lvl="1"/>
            <a:r>
              <a:rPr lang="en-US" b="1" dirty="0"/>
              <a:t>APIs</a:t>
            </a:r>
            <a:r>
              <a:rPr lang="en-US" dirty="0"/>
              <a:t> for user programs to communicate desired activities to the OS.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(1)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352800"/>
          </a:xfrm>
        </p:spPr>
        <p:txBody>
          <a:bodyPr>
            <a:normAutofit/>
          </a:bodyPr>
          <a:lstStyle/>
          <a:p>
            <a:r>
              <a:rPr lang="en-US" dirty="0"/>
              <a:t>Is accessed all the time when a program is running.</a:t>
            </a:r>
          </a:p>
          <a:p>
            <a:pPr lvl="1"/>
            <a:r>
              <a:rPr lang="en-US" dirty="0"/>
              <a:t>Programs keep all data in memory, and accesses them through various instructions (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sw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Programs’ instructions are also stored in the memory</a:t>
            </a:r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4495800"/>
            <a:ext cx="30045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  <a:p>
            <a:r>
              <a:rPr lang="en-US" dirty="0"/>
              <a:t>main 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*p= </a:t>
            </a:r>
            <a:r>
              <a:rPr lang="en-US" dirty="0" err="1"/>
              <a:t>malloc</a:t>
            </a:r>
            <a:r>
              <a:rPr lang="en-US" dirty="0"/>
              <a:t> 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))l</a:t>
            </a:r>
          </a:p>
          <a:p>
            <a:r>
              <a:rPr lang="en-US" dirty="0"/>
              <a:t>      *p = 0;</a:t>
            </a:r>
          </a:p>
          <a:p>
            <a:r>
              <a:rPr lang="en-US" dirty="0"/>
              <a:t>} </a:t>
            </a:r>
          </a:p>
          <a:p>
            <a:r>
              <a:rPr lang="en-US" dirty="0"/>
              <a:t>    </a:t>
            </a:r>
            <a:endParaRPr lang="th-TH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4445675"/>
            <a:ext cx="30045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  <a:p>
            <a:r>
              <a:rPr lang="en-US" dirty="0"/>
              <a:t>main 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*p= </a:t>
            </a:r>
            <a:r>
              <a:rPr lang="en-US" dirty="0" err="1"/>
              <a:t>malloc</a:t>
            </a:r>
            <a:r>
              <a:rPr lang="en-US" dirty="0"/>
              <a:t> 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))l</a:t>
            </a:r>
          </a:p>
          <a:p>
            <a:r>
              <a:rPr lang="en-US" dirty="0"/>
              <a:t>      *p = 0;</a:t>
            </a:r>
          </a:p>
          <a:p>
            <a:r>
              <a:rPr lang="en-US" dirty="0"/>
              <a:t>} </a:t>
            </a:r>
          </a:p>
          <a:p>
            <a:r>
              <a:rPr lang="en-US" dirty="0"/>
              <a:t>    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Memory (2)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Q: when P1 and P2 are running their program, it always appear that the value can be updated independently, why ?</a:t>
            </a:r>
          </a:p>
          <a:p>
            <a:pPr lvl="1"/>
            <a:r>
              <a:rPr lang="en-US" dirty="0"/>
              <a:t>Each running program has its own private memory (private address space), which can be mapped onto the physical memory</a:t>
            </a:r>
          </a:p>
          <a:p>
            <a:pPr lvl="1"/>
            <a:r>
              <a:rPr lang="en-US" dirty="0"/>
              <a:t>A memory reference within one program does not affect address space of others.</a:t>
            </a:r>
          </a:p>
          <a:p>
            <a:pPr lvl="1"/>
            <a:r>
              <a:rPr lang="en-US" dirty="0"/>
              <a:t>OS is virtualizing memory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B6BCF-3AEF-4FEE-9863-BF3C32AD5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79985"/>
            <a:ext cx="5277587" cy="1495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all about ‘</a:t>
            </a:r>
            <a:r>
              <a:rPr lang="en-US" i="1" dirty="0"/>
              <a:t>Concurrency</a:t>
            </a:r>
            <a:r>
              <a:rPr lang="en-US" dirty="0"/>
              <a:t>’ 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OS has to juggle many things at once, which leads to some interesting problems.</a:t>
            </a:r>
          </a:p>
          <a:p>
            <a:r>
              <a:rPr lang="en-US" dirty="0"/>
              <a:t>Ultimate Goal: how to make all programs execute with correct conditions</a:t>
            </a:r>
          </a:p>
          <a:p>
            <a:pPr lvl="1"/>
            <a:r>
              <a:rPr lang="en-US" dirty="0"/>
              <a:t>What techniques are needed from the OS</a:t>
            </a:r>
          </a:p>
          <a:p>
            <a:pPr lvl="1"/>
            <a:r>
              <a:rPr lang="en-US" dirty="0"/>
              <a:t>What mechanisms should be provided by the hardware</a:t>
            </a:r>
          </a:p>
          <a:p>
            <a:pPr lvl="1"/>
            <a:r>
              <a:rPr lang="en-US" dirty="0"/>
              <a:t>How can we use them to solve the problems </a:t>
            </a:r>
          </a:p>
          <a:p>
            <a:r>
              <a:rPr lang="en-US" dirty="0"/>
              <a:t>Multi-threaded programs also exhibit the same problems</a:t>
            </a:r>
          </a:p>
          <a:p>
            <a:pPr lvl="1"/>
            <a:r>
              <a:rPr lang="en-US" dirty="0"/>
              <a:t>Solutions are different from OS-level concurrency as threads share same address space.</a:t>
            </a:r>
            <a:endParaRPr lang="th-TH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Persistence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memory, data can be easily lost, as DRAM is volatile.</a:t>
            </a:r>
          </a:p>
          <a:p>
            <a:pPr lvl="1"/>
            <a:r>
              <a:rPr lang="en-US" dirty="0"/>
              <a:t>Power out -&gt; data lost</a:t>
            </a:r>
          </a:p>
          <a:p>
            <a:pPr lvl="1"/>
            <a:r>
              <a:rPr lang="en-US" dirty="0"/>
              <a:t>System crash -&gt; data lost</a:t>
            </a:r>
          </a:p>
          <a:p>
            <a:r>
              <a:rPr lang="en-US" dirty="0"/>
              <a:t>We need a disk drive for long-lived information.</a:t>
            </a:r>
          </a:p>
          <a:p>
            <a:r>
              <a:rPr lang="en-US" dirty="0"/>
              <a:t>Thus, OS must manage the disk(s) in addition to other things.  This is called a </a:t>
            </a:r>
            <a:r>
              <a:rPr lang="en-US" dirty="0">
                <a:solidFill>
                  <a:srgbClr val="FF0000"/>
                </a:solidFill>
              </a:rPr>
              <a:t>file system</a:t>
            </a:r>
            <a:r>
              <a:rPr lang="en-US" dirty="0"/>
              <a:t>.</a:t>
            </a:r>
          </a:p>
          <a:p>
            <a:r>
              <a:rPr lang="en-US" dirty="0"/>
              <a:t>The file system stores files in a reliable and efficient manner on the disk(s)</a:t>
            </a:r>
          </a:p>
          <a:p>
            <a:r>
              <a:rPr lang="en-US" dirty="0"/>
              <a:t>No abstraction here, OS does not create a private, virtualized disk for each application, why ?</a:t>
            </a:r>
          </a:p>
          <a:p>
            <a:endParaRPr lang="en-US" dirty="0"/>
          </a:p>
          <a:p>
            <a:endParaRPr lang="th-TH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Persistence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105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Files are shared across different processes.  </a:t>
            </a:r>
          </a:p>
          <a:p>
            <a:pPr lvl="1"/>
            <a:r>
              <a:rPr lang="en-US" dirty="0"/>
              <a:t>Process A: Editor (vi, </a:t>
            </a:r>
            <a:r>
              <a:rPr lang="en-US" dirty="0" err="1"/>
              <a:t>emacs</a:t>
            </a:r>
            <a:r>
              <a:rPr lang="en-US" dirty="0"/>
              <a:t>) creates a source code file</a:t>
            </a:r>
          </a:p>
          <a:p>
            <a:pPr lvl="1"/>
            <a:r>
              <a:rPr lang="en-US" dirty="0"/>
              <a:t>Process B: Compiler use it to create a new executable file.</a:t>
            </a:r>
          </a:p>
          <a:p>
            <a:r>
              <a:rPr lang="en-US" dirty="0"/>
              <a:t>All system calls related to file manipulation are routed to the ‘file system’, who handles the requests.</a:t>
            </a:r>
          </a:p>
          <a:p>
            <a:r>
              <a:rPr lang="en-US" dirty="0"/>
              <a:t>OS deals with all device drivers in order to get device to do something.</a:t>
            </a:r>
          </a:p>
          <a:p>
            <a:r>
              <a:rPr lang="en-US" dirty="0"/>
              <a:t>Issues:</a:t>
            </a:r>
          </a:p>
          <a:p>
            <a:pPr lvl="1"/>
            <a:r>
              <a:rPr lang="en-US" dirty="0"/>
              <a:t>Delay ‘writes’ and try to batch them for better performance</a:t>
            </a:r>
          </a:p>
          <a:p>
            <a:pPr lvl="1"/>
            <a:r>
              <a:rPr lang="en-US" dirty="0"/>
              <a:t>Handle system crashes during writes</a:t>
            </a:r>
          </a:p>
          <a:p>
            <a:pPr lvl="1"/>
            <a:r>
              <a:rPr lang="en-US" dirty="0"/>
              <a:t>Handle different data structures and access methods</a:t>
            </a:r>
          </a:p>
          <a:p>
            <a:pPr lvl="1"/>
            <a:r>
              <a:rPr lang="en-US" dirty="0"/>
              <a:t>RAID for data redundancy and performance improvement</a:t>
            </a:r>
          </a:p>
          <a:p>
            <a:endParaRPr lang="en-US" dirty="0"/>
          </a:p>
          <a:p>
            <a:pPr lvl="1"/>
            <a:endParaRPr lang="th-T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an OS, we must consider ..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sz="3100" dirty="0"/>
              <a:t>Abstractions: make it convenient and easy to use through virtualization</a:t>
            </a:r>
          </a:p>
          <a:p>
            <a:r>
              <a:rPr lang="en-US" sz="3100" dirty="0"/>
              <a:t>High performances: minimizing overheads (extra time, extra space)</a:t>
            </a:r>
          </a:p>
          <a:p>
            <a:r>
              <a:rPr lang="en-US" sz="3100" dirty="0"/>
              <a:t>Isolation: protection schemes between applications (malicious or accidental bad behavior of one does not harm others)</a:t>
            </a:r>
          </a:p>
          <a:p>
            <a:r>
              <a:rPr lang="en-US" sz="3100" dirty="0"/>
              <a:t>Reliability: OS runs non-stop.  However, when it fails, all applications fail as well.  Millions lines of code are dedicated to reliability.</a:t>
            </a:r>
          </a:p>
          <a:p>
            <a:r>
              <a:rPr lang="en-US" sz="3100" dirty="0"/>
              <a:t>Energy-efficiency:  green world, longer battery usage time</a:t>
            </a:r>
          </a:p>
          <a:p>
            <a:r>
              <a:rPr lang="en-US" sz="3100" dirty="0"/>
              <a:t>Security: against malicious applications</a:t>
            </a:r>
          </a:p>
          <a:p>
            <a:r>
              <a:rPr lang="en-US" sz="3100" dirty="0"/>
              <a:t>Mobility: for smaller devices</a:t>
            </a:r>
          </a:p>
          <a:p>
            <a:pPr lvl="1"/>
            <a:endParaRPr lang="th-TH" sz="3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Operating system takes physical resources and virtualizes them.  It also handles concurrency and persistence issues as well as others</a:t>
            </a:r>
          </a:p>
          <a:p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4495800"/>
            <a:ext cx="6863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Now… let’s look at the history of OS</a:t>
            </a:r>
            <a:endParaRPr lang="th-TH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days of Mainframe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Early OS:  just libraries of commonly used functions such as I/O manipulations</a:t>
            </a:r>
          </a:p>
          <a:p>
            <a:pPr lvl="1"/>
            <a:r>
              <a:rPr lang="en-US" dirty="0"/>
              <a:t>One program at a time, controlled by a human (human-scheduler).</a:t>
            </a:r>
          </a:p>
          <a:p>
            <a:r>
              <a:rPr lang="en-US" dirty="0"/>
              <a:t>Libraries with Protection: code run on behalf of OS is special; it should be treated differently from others</a:t>
            </a:r>
          </a:p>
          <a:p>
            <a:pPr lvl="1"/>
            <a:r>
              <a:rPr lang="en-US" dirty="0"/>
              <a:t>Cannot allow any program to access anywhere on the disk (privacy).</a:t>
            </a:r>
          </a:p>
          <a:p>
            <a:pPr lvl="1"/>
            <a:r>
              <a:rPr lang="en-US" dirty="0"/>
              <a:t>Modes of execution is added: user and kernel</a:t>
            </a:r>
          </a:p>
          <a:p>
            <a:pPr lvl="1"/>
            <a:r>
              <a:rPr lang="en-US" dirty="0"/>
              <a:t>In contrast to a procedure call, a system call transfers control into the OS, raising the hardware privilege level.  This allow full access to hardware of the system.</a:t>
            </a:r>
          </a:p>
          <a:p>
            <a:pPr lvl="2"/>
            <a:r>
              <a:rPr lang="en-US" dirty="0"/>
              <a:t>Initiate I/O requests</a:t>
            </a:r>
          </a:p>
          <a:p>
            <a:pPr lvl="2"/>
            <a:r>
              <a:rPr lang="en-US" dirty="0"/>
              <a:t>Make more memory available to a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Multiprogramming on Minicomputer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make better use of machine resources, people pay lots of attention to multiprogramming.</a:t>
            </a:r>
          </a:p>
          <a:p>
            <a:r>
              <a:rPr lang="en-US" dirty="0"/>
              <a:t>Instead of running one job at a time, OS load a number of jobs into memory and swatch between them, improving CPU utilization.</a:t>
            </a:r>
          </a:p>
          <a:p>
            <a:r>
              <a:rPr lang="en-US" dirty="0"/>
              <a:t>I/O is slow, doing this CPU does not have to wait.</a:t>
            </a:r>
          </a:p>
          <a:p>
            <a:r>
              <a:rPr lang="en-US" dirty="0"/>
              <a:t>Issues arise:</a:t>
            </a:r>
          </a:p>
          <a:p>
            <a:pPr lvl="1"/>
            <a:r>
              <a:rPr lang="en-US" dirty="0"/>
              <a:t>Memory protection</a:t>
            </a:r>
          </a:p>
          <a:p>
            <a:pPr lvl="1"/>
            <a:r>
              <a:rPr lang="en-US" dirty="0"/>
              <a:t>Interrupts (must make sure OS is working correctly)</a:t>
            </a:r>
          </a:p>
          <a:p>
            <a:r>
              <a:rPr lang="en-US" dirty="0"/>
              <a:t>Leads to the introduction of </a:t>
            </a:r>
            <a:r>
              <a:rPr lang="en-US" b="1" i="1" dirty="0"/>
              <a:t>UNIX</a:t>
            </a:r>
            <a:r>
              <a:rPr lang="en-US" dirty="0"/>
              <a:t> and with it the </a:t>
            </a:r>
            <a:r>
              <a:rPr lang="en-US" b="1" i="1" dirty="0"/>
              <a:t>C</a:t>
            </a:r>
            <a:r>
              <a:rPr lang="en-US" dirty="0"/>
              <a:t> language !</a:t>
            </a:r>
          </a:p>
          <a:p>
            <a:pPr lvl="1"/>
            <a:endParaRPr lang="th-TH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Modern Era of PCs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305800" cy="4267200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/>
              <a:t>People forgot to look at what’re good in the minicomputer OS. So…..</a:t>
            </a:r>
          </a:p>
          <a:p>
            <a:r>
              <a:rPr lang="en-US" dirty="0"/>
              <a:t>DOS: memory protection is absent</a:t>
            </a:r>
          </a:p>
          <a:p>
            <a:r>
              <a:rPr lang="en-US" dirty="0"/>
              <a:t>Mac OS (1</a:t>
            </a:r>
            <a:r>
              <a:rPr lang="en-US" baseline="30000" dirty="0"/>
              <a:t>st</a:t>
            </a:r>
            <a:r>
              <a:rPr lang="en-US" dirty="0"/>
              <a:t> gen): poor job scheduling</a:t>
            </a:r>
          </a:p>
          <a:p>
            <a:pPr algn="ctr">
              <a:buNone/>
            </a:pPr>
            <a:r>
              <a:rPr lang="en-US" dirty="0">
                <a:solidFill>
                  <a:srgbClr val="FF0000"/>
                </a:solidFill>
              </a:rPr>
              <a:t>After some years of trying</a:t>
            </a:r>
          </a:p>
          <a:p>
            <a:r>
              <a:rPr lang="en-US" dirty="0"/>
              <a:t>Windows NT incorporated features from minicomputer OS</a:t>
            </a:r>
          </a:p>
          <a:p>
            <a:r>
              <a:rPr lang="en-US" dirty="0"/>
              <a:t>Mac OS X had UNIX at its core</a:t>
            </a:r>
            <a:endParaRPr lang="th-TH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1129605"/>
            <a:ext cx="76038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concept: “one machine per desktop instead of </a:t>
            </a:r>
          </a:p>
          <a:p>
            <a:pPr algn="ctr"/>
            <a:r>
              <a:rPr lang="en-US" sz="2800" dirty="0"/>
              <a:t>a shared minicomputer per workgroup”.</a:t>
            </a:r>
          </a:p>
          <a:p>
            <a:pPr algn="ctr"/>
            <a:endParaRPr lang="th-TH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4004</TotalTime>
  <Words>1287</Words>
  <Application>Microsoft Office PowerPoint</Application>
  <PresentationFormat>On-screen Show (4:3)</PresentationFormat>
  <Paragraphs>139</Paragraphs>
  <Slides>15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Angsana New</vt:lpstr>
      <vt:lpstr>Arial</vt:lpstr>
      <vt:lpstr>Calibri</vt:lpstr>
      <vt:lpstr>Cordia New</vt:lpstr>
      <vt:lpstr>Office Theme</vt:lpstr>
      <vt:lpstr>Lecture 1 Introduction to Operating System</vt:lpstr>
      <vt:lpstr>From previous semester …</vt:lpstr>
      <vt:lpstr>Things covered in this course</vt:lpstr>
      <vt:lpstr>Virtualization</vt:lpstr>
      <vt:lpstr>Processor</vt:lpstr>
      <vt:lpstr>Memory (1)</vt:lpstr>
      <vt:lpstr>Memory (2)</vt:lpstr>
      <vt:lpstr>It’s all about ‘Concurrency’ </vt:lpstr>
      <vt:lpstr>Persistence</vt:lpstr>
      <vt:lpstr>Persistence</vt:lpstr>
      <vt:lpstr>Building an OS, we must consider ..</vt:lpstr>
      <vt:lpstr>PowerPoint Presentation</vt:lpstr>
      <vt:lpstr>Early days of Mainframe</vt:lpstr>
      <vt:lpstr>Multiprogramming on Minicomputer</vt:lpstr>
      <vt:lpstr>The Modern Era of PCs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Operating System</dc:title>
  <dc:creator>Tiranee</dc:creator>
  <cp:lastModifiedBy>rajch</cp:lastModifiedBy>
  <cp:revision>69</cp:revision>
  <dcterms:created xsi:type="dcterms:W3CDTF">2006-08-16T00:00:00Z</dcterms:created>
  <dcterms:modified xsi:type="dcterms:W3CDTF">2022-08-08T08:02:53Z</dcterms:modified>
</cp:coreProperties>
</file>